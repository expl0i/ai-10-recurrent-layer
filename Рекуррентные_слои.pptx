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hₜ</c:v>
                </c:pt>
              </c:strCache>
            </c:strRef>
          </c:tx>
          <c:spPr>
            <a:solidFill>
              <a:srgbClr val="B8AB84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 = 1</c:v>
                  </c:pt>
                  <c:pt idx="1">
                    <c:v>t = 2</c:v>
                  </c:pt>
                  <c:pt idx="2">
                    <c:v>t = 3</c:v>
                  </c:pt>
                  <c:pt idx="3">
                    <c:v>t = 4</c:v>
                  </c:pt>
                  <c:pt idx="4">
                    <c:v>t =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0.7616</c:v>
                </c:pt>
                <c:pt idx="1">
                  <c:v>0.3634</c:v>
                </c:pt>
                <c:pt idx="2">
                  <c:v>0.1797</c:v>
                </c:pt>
                <c:pt idx="3">
                  <c:v>0.0896</c:v>
                </c:pt>
                <c:pt idx="4">
                  <c:v>0.0448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900" u="none">
                  <a:solidFill>
                    <a:srgbClr val="3333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E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Этим занятием заканчивается первый блок. Полносвязные и сверточные сети, которые мы разобрали, получают весь вход сразу и не знают, что было «до». Но текст, речь, показания датчиков беспилотного автомобиля приходят потоком, и смысл зависит от того, что было раньше. Сегодня – сети с памятью. К концу занятия каждый должен уметь записать шаг рекуррентной сети, объяснить, почему простая сеть «забывает» начало, и рассказать идею вентилей LSTM.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Прочитайте фразу и попросите класс закончить (ответ: «по-французски»). Спросите: «Какое слово подсказало ответ и где оно стоит?» («Франции» – в начале фразы, за несколько слов до пропуска). Вывод: чтобы предсказать следующее слово, нужно помнить начало. Спросите, как с этим справилась бы полносвязная сеть из Б1.1 (ей нужен вход фиксированной длины, и она не знает, что слова идут по порядку). Можно добавить вариант, где подсказка стоит еще дальше: «Я вырос во Франции, потом десять лет жил в Кемерово, учился, работал… поэтому свободно говорю по-…» – чем длиннее промежуток, тем труднее. Это и есть главная проблема занятия.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01 «Развертка во времени». Идея раздела: вместо того чтобы подавать всю последовательность сразу, сеть читает ее по одному элементу и хранит прочитанное в векторе-памяти. На каждом шаге работает одна и та же маленькая сеть – ячейка.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Приведите примеры последовательностей: текст (буквы или слова), речь (кадры звука), показания лидара и скорости беспилотника по времени, курс валют. Разберите три трудности для полносвязной сети. Разная длина: фраза бывает из 3 слов и из 30. Порядок: «собака укусила человека» и «человек укусил собаку» – одни и те же слова. Признак в любой позиции: частица «не» перед глаголом меняет смысл, где бы она ни стояла, а полносвязная сеть учила бы это для каждой позиции отдельно. Спросите: «Какую из трудностей мы уже решали для картинок?» (третью – сверткой с общими весами в Б1.3).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Выпишите формулу `h_t = tanh(W·h_{t−1} + U·x_t + b)` и расшифруйте обозначения: `h_t` – скрытое состояние, память размера H; `x_t` – вход шага, размера D; `W` – матрица H × H, как память переходит в память; `U` – H × D, как вход записывается в память; `b` – смещение. Нарисуйте на доске ячейку с петлей: выход ячейки возвращается к ней же на следующем шаге. Спросите: «Зачем здесь tanh?» (держит числа памяти в интервале от −1 до 1, чтобы они не росли бесконечно). Ответ на каждом шаге, если он нужен, получают линейным слоем из памяти. Задание Р1 (GF 10.2, с. 320).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«Считаем вместе». W = 0.5, U = 1, b = 0, h₀ = 0, вход [1, 0, 0, 0, 0]. Шаг 1: tanh(0.5·0 + 1) = tanh 1 ≈ 0.7616. Шаг 2: tanh(0.5·0.7616 + 0) = tanh 0.3808 ≈ 0.3634. Шаг 3: tanh 0.1817 ≈ 0.1797. Шаг 4: ≈ 0.0896. Шаг 5: ≈ 0.0448. Каждый шаг память умножается примерно на W = 0.5, потому что около нуля tanh z ≈ z. Дополнительное задание классу: посчитайте состояния для постоянного входа [1, 1, 1] (ответ: 0.7616, 0.8811, 0.8938 – память насыщается около 0.895). Задание Р1, числа совпадают со строками «ожидается».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Нарисуйте развертку: ячейки для шагов 1, 2, 3, 4 в ряд, стрелки памяти между ними, входы снизу. Получилась обычная глубокая сеть, у которой на каждом «слое» одни и те же W, U и b – это разделение параметров во времени (GF 10.1). Сравните со сверткой из Б1.3: там одно ядро на все позиции картинки, здесь одни веса на все шаги. Отсюда два следствия: число параметров H·H + H·D + H не зависит от длины последовательности, и сеть, обученная на коротких фразах, может читать длинные. Спросите: «Сколько параметров у ячейки с H = 32 и D = 4?» (32·32 + 32·4 + 32 = 1 184).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Разберите карточки. Много-к-одному: прочитать всю последовательность и ответить один раз по последней памяти – оценка тональности отзыва, в ноутбуке задание Р4. Много-ко-многим: ответ на каждом шаге – предсказание следующей буквы текста или следующего значения ряда (Р5, Р6). Кодировщик-декодер: одна сеть читает вход и сжимает его в вектор, другая по нему пишет выход другой длины – машинный перевод (GF 10.4). Двунаправленная сеть читает последовательность в обе стороны, когда вход известен целиком, например при распознавании речи по записи (GF 10.3). Спросите: «Какая схема нужна для перевода фразы с русского на английский?» (кодировщик-декодер: длины фраз разные).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02. Развернутая РНС – обычный граф вычислений, и обучать ее можно тем же обратным распространением из Б1.2. Но у очень глубокого графа с одинаковыми весами появляется своя беда: градиент от конца последовательности до начала либо исчезает, либо взрывается.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Объясните обратное распространение во времени (BPTT, GF 10.2.2): разворачиваем сеть на T шагов и проходим граф назад от потери к началу. По цепному правилу градиент последней памяти по начальной – произведение множителей всех шагов: `∂h_T/∂h_0 = ∏ ∂h_t/∂h_{t−1}`, и в одномерном случае каждый множитель равен `(1 − h_t²)·W`. Напомните правило ветвления из Б1.2: вес W используется на каждом шаге, поэтому градиенты по нему со всех шагов складываются. Предупредите: для обучения нужно хранить все T состояний прямого прохода, поэтому длинные последовательности требуют памяти. Задание Р3.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«Считаем вместе». Считаем множители для импульса: шаг 1 – 0.5·(1 − 0.7616²) ≈ 0.21, шаг 2 – 0.5·(1 − 0.3634²) ≈ 0.43, дальше ≈ 0.48, 0.50, 0.50; произведение ≈ 0.0109. При нулевом входе состояние все время 0, множитель ровно 0.5, через 10 шагов 0.5¹⁰ ≈ 0.001 – сигнал ошибки в тысячу раз слабее: затухание градиента (GF 10.7). При W = 1.5 множитель 1.5, и 1.5¹⁰ ≈ 57.7 – взрыв. Покажите график: в логарифмическом масштабе это прямые вниз и вверх. Дополнительное задание: сколько останется через 50 шагов при W = 0.9 (ответ: 0.9⁵⁰ ≈ 0.005).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Отсечение градиента (GF 10.11.1): если норма градиента больше порога c, градиент умножают на c/‖g‖ – направление сохраняется, длина становится равной c. Пример: g = (30, 40), ‖g‖ = √(900 + 1600) = 50, порог 1, после отсечения (0.6, 0.8). В PyTorch это одна строка `nn.utils.clip_grad_norm_(model.parameters(), 1.0)` между `backward` и `step`. Спросите: «Поможет ли отсечение, если градиент равен 0.001?» (нет: оно только уменьшает большие градиенты, а маленький не увеличит). Против затухания нужна другая ячейка – LSTM. Отсечение используется в ноутбуке в заданиях Р4 и Р6.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03. Решение проблемы затухания придумали в 1997 году (Хохрайтер и Шмидхубер): отдельная ячейка памяти, которую сеть не пересчитывает заново на каждом шаге, а аккуратно обновляет с помощью «вентилей» – чисел от 0 до 1, решающих, что забыть, что записать и что выдать наружу.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Разберите схему ячейки LSTM (перерисована по [COLAH]). Сверху проходит «конвейер» памяти c. Вентиль забывания f – сигмоида: умножает старую память, 1 – оставить, 0 – стереть. Вентиль входа i и кандидат g (tanh) решают, что добавить. Вентиль выхода o решает, какую часть памяти выдать в h. Все вентили считаются, как обычный слой, из h_{t−1} и x_t, у каждого свои веса. Спросите: «Что сделает ячейка, если f = 1 и i = 0?» (сохранит память без изменений – идеальная «флешка»). Предупредите путаницу: у LSTM два вектора состояния, h и c, поэтому `nn.LSTM` возвращает `(h_n, c_n)`. GF 10.10.1.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Выпишите `c_t = f_t ⊙ c_{t−1} + i_t ⊙ g_t` и подчеркните: память не пересчитывается через tanh, а получает добавку – как остаточный блок `y = F(x) + x` из Б1.4. Поэтому градиент по памяти через шаг равен f. Слайд «Считаем вместе»: если вентиль забывания 0.95, через 50 шагов остается 0.95⁵⁰ ≈ 0.077; у простой РНС с множителем 0.5 – 0.5⁵⁰ ≈ 9·10⁻¹⁶. Отсюда прием из ноутбука: смещение вентиля забывания задают около 3, σ(3) ≈ 0.95, и сеть с самого начала «по умолчанию помнит». Результат задания Р4: на длине 50 простая РНС близка к угадыванию, LSTM запоминает первый символ. Дополнительное задание: при f = 0.99 (ответ: 0.99⁵⁰ ≈ 0.61).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GRU (2014, GF 10.10.2) – упрощенная LSTM: нет отдельной памяти c, вентиль обновления z смешивает старое состояние с новым кандидатом, вентиль сброса r решает, сколько старого состояния использовать для кандидата. Сравните число параметров для H = 32, D = 4 в PyTorch: у одного «блока» 32·4 + 32·32 + 2·32 = 1 216 параметров; у РНС один блок – 1 216, у GRU три – 3 648, у LSTM четыре – 4 864. Качество у LSTM и GRU обычно близкое, GRU быстрее. Спросите: «Почему у LSTM ровно вчетверо больше параметров, чем у РНС?» (три вентиля и кандидат – четыре слоя одинакового размера). Задание повышенной сложности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Сильные стороны рекуррентных сетей: читают последовательности любой длины; общие веса во времени; LSTM и GRU помнят сотни шагов; могут работать в реальном времени, получая данные по одному, – например, поток с датчиков автомобиля. Слабые: шаги считаются строго по очереди, поэтому расчет плохо распараллеливается на видеокарте; простая РНС быстро забывает; очень длинные зависимости трудны даже для LSTM; обучение требует хранить все состояния. Скажите, что современная альтернатива – механизм внимания и трансформеры, которые смотрят на всю последовательность сразу. Сравните с моделями 9 класса: kNN и деревья вообще не учитывали порядок признаков.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04. Практика устроена привычно: ячейка РНС сначала пишется на тензорах и сверяется с `nn.RNN`, затем на ней же измеряем затухание градиента, а после этого переходим к готовым `nn.RNN` и `nn.LSTM` и решаем три задачи – на память, на прогноз ряда и на генерацию текста.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«Как это хранится в коде». У `nn.RNN(D, H)` четыре тензора: `weight_ih_l0` – это наша U, форма (H, D); `weight_hh_l0` – W, (H, H); два смещения `bias_ih_l0` и `bias_hh_l0`, которые просто складываются. У `nn.LSTM` те же имена, но строк в 4 раза больше – (4H, D) и (4H, H): четыре блока в порядке i, f, g, o. С `batch_first=True` вход имеет форму (N, T, D), выход `out` – (N, T, H), последнее состояние `h_n` – (1, N, H). Спросите: «Где лежит смещение вентиля забывания LSTM?» (в строках с H по 2H − 1 векторов смещений). Задания Р2 и Р4.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Пройдите по плану практики. Р1 – `rnn_step` и `rnn_forward`, ожидается пример со слайда (главное задание); Р2 – `copy_to_rnn` и сверка с `nn.RNN`; Р3 – `grad_h0`, затухание и взрыв на графике; Р4 – класс `SeqClassifier` и таблица «РНС против LSTM» на длинах 5, 20, 50 (главное задание); Р5 – `make_windows` и прогноз зашумленной синусоиды; Р6 – `encode`, `decode`, `sample_next` и генерация текста по затравке. Правило части: в Р1–Р3 внутри функций только операции тензоров, `nn.RNN` – для сверки.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Попросите 2–3 учеников объяснить, почему простая РНС забывает начало и как это исправляет LSTM. Тема усвоена, если звучат слова «скрытое состояние», «общие веса во времени», «развертка», «затухание градиента», «вентиль забывания», «память обновляется добавкой». Пройдитесь по шести пунктам. Анонсируйте Блок 2: теперь, когда мы знаем основные архитектуры, будем учиться обучать их лучше – оптимизаторы, регуляризация, трансферное обучение.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img6/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10972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«ИСКУССТВЕННЫЙ ИНТЕЛЛЕКТ» · 10 КЛАСС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146304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Рекуррентные сети: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нейросеть помнит прошлое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548640" y="4069080"/>
            <a:ext cx="502920" cy="438912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pic>
        <p:nvPicPr>
          <p:cNvPr id="7" name="Image 1" descr="img6/ic_FaGraduationCap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150" y="4187586"/>
            <a:ext cx="201900" cy="20190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188720" y="40873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Инженерная школа «УникУм», КузГТУ им. Т. Ф. Горбачева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img6/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0624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937760" y="822960"/>
            <a:ext cx="502920" cy="438912"/>
          </a:xfrm>
          <a:prstGeom prst="hexagon">
            <a:avLst/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pic>
        <p:nvPicPr>
          <p:cNvPr id="5" name="Image 1" descr="img6/ic_FaQuoteLeft_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270" y="941466"/>
            <a:ext cx="201900" cy="2019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4937760" y="141732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«Я вырос во Франции… поэтому свободно говорю по-…»</a:t>
            </a:r>
            <a:endParaRPr lang="en-US" sz="2100" dirty="0"/>
          </a:p>
        </p:txBody>
      </p:sp>
      <p:sp>
        <p:nvSpPr>
          <p:cNvPr id="7" name="Text 2"/>
          <p:cNvSpPr txBox="1"/>
          <p:nvPr/>
        </p:nvSpPr>
        <p:spPr>
          <a:xfrm>
            <a:off x="4937760" y="27889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Закончите фразу. Какое слово подсказало ответ и где оно стоит? Чтобы ответить, нужно помнить начало – сети нужна память.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img6/sec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4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121408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Развертка во времени</a:t>
            </a:r>
            <a:endParaRPr lang="en-US" sz="25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45643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ячейка читает последовательность шаг за шагом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Рекуррентные слои</a:t>
            </a:r>
            <a:endParaRPr lang="en-US" sz="750" dirty="0"/>
          </a:p>
        </p:txBody>
      </p:sp>
      <p:sp>
        <p:nvSpPr>
          <p:cNvPr id="8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ПОСЛЕДОВАТЕЛЬНОСТИ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Порядок и длина имеют значение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Рекуррентные слои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234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текст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560320" y="1234440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560320" y="1234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речь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663440" y="1234440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663440" y="1234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датчики беспилотника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766560" y="1234440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766560" y="1234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курс валют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57200" y="1965960"/>
            <a:ext cx="260604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121408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212140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1234440" y="21671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Разная длина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6974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Фраза бывает из 3 слов и из 30, а MLP нужен вход фиксированного размера.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246120" y="1965960"/>
            <a:ext cx="260604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429000" y="2121408"/>
            <a:ext cx="457200" cy="402336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429000" y="212140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4023360" y="21671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Важен порядок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3429000" y="26974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«Собака укусила человека» и «человек укусил собаку» – одни и те же слова.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035040" y="1965960"/>
            <a:ext cx="260604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217920" y="2121408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217920" y="212140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6812280" y="21671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Признак в любой позиции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6217920" y="26974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Частица «не» меняет смысл, где бы она ни стояла, – учить ее для каждой позиции дорого.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Третью трудность мы уже решали для картинок – общими весами свертки.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ЯЧЕЙКА РНС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Ячейка с памятью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Рекуррентные слои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029200" y="502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hₜ = tanh(W·hₜ₋₁ + U·xₜ + b)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029200" y="9326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и та же формула на каждом шаге t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325880"/>
            <a:ext cx="329184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417320" y="1600200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417320" y="1600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hₜ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103120" y="2395728"/>
            <a:ext cx="0" cy="-411480"/>
          </a:xfrm>
          <a:prstGeom prst="line">
            <a:avLst/>
          </a:prstGeom>
          <a:noFill/>
          <a:ln w="15240">
            <a:solidFill>
              <a:srgbClr val="6E6E78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1234440" y="2395728"/>
            <a:ext cx="1737360" cy="731520"/>
          </a:xfrm>
          <a:prstGeom prst="roundRect">
            <a:avLst>
              <a:gd name="adj" fmla="val 7500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234440" y="239572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tanh(W·h + U·x + b)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103120" y="3611880"/>
            <a:ext cx="0" cy="-484632"/>
          </a:xfrm>
          <a:prstGeom prst="line">
            <a:avLst/>
          </a:prstGeom>
          <a:noFill/>
          <a:ln w="15240">
            <a:solidFill>
              <a:srgbClr val="6E6E78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1645920" y="3611880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645920" y="36118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xₜ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2971800" y="2761488"/>
            <a:ext cx="457200" cy="0"/>
          </a:xfrm>
          <a:prstGeom prst="line">
            <a:avLst/>
          </a:prstGeom>
          <a:noFill/>
          <a:ln w="25400">
            <a:solidFill>
              <a:srgbClr val="8F826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429000" y="1792224"/>
            <a:ext cx="0" cy="969264"/>
          </a:xfrm>
          <a:prstGeom prst="line">
            <a:avLst/>
          </a:prstGeom>
          <a:noFill/>
          <a:ln w="25400">
            <a:solidFill>
              <a:srgbClr val="8F826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 flipH="1">
            <a:off x="2788920" y="1792224"/>
            <a:ext cx="640080" cy="0"/>
          </a:xfrm>
          <a:prstGeom prst="line">
            <a:avLst/>
          </a:prstGeom>
          <a:noFill/>
          <a:ln w="25400">
            <a:solidFill>
              <a:srgbClr val="8F826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0080" y="40233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золотая петля – память на следующий шаг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114800" y="1325880"/>
            <a:ext cx="502920" cy="438912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114800" y="132588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hₜ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4754880" y="1417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память размера H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114800" y="2075688"/>
            <a:ext cx="502920" cy="438912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114800" y="207568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4754880" y="21671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× H: память → память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114800" y="2825496"/>
            <a:ext cx="502920" cy="438912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114800" y="2825496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4754880" y="29169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× D: вход → память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114800" y="3575304"/>
            <a:ext cx="502920" cy="438912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114800" y="357530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4754880" y="36667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смещение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4114800" y="4114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 держит память в интервале (−1, 1).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СЧИТАЕМ ВМЕСТЕ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Импульс тает вдвое за шаг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Рекуррентные слои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0.5,  U = 1,  b = 0,  h₀ = 0,  вход x = [1, 0, 0, 0, 0]</a:t>
            </a:r>
            <a:endParaRPr lang="en-US" sz="11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65760" y="1463040"/>
          <a:ext cx="402336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4617720" y="1508760"/>
            <a:ext cx="1920240" cy="1234440"/>
          </a:xfrm>
          <a:prstGeom prst="roundRect">
            <a:avLst>
              <a:gd name="adj" fmla="val 4444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800600" y="16002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1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480060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tanh(0 + 1)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4800600" y="2240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0.7616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720840" y="150876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903720" y="16002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2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6903720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tanh(0.5 · 0.7616)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6903720" y="2240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tanh 0.3808 = 0.3634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4617720" y="288036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Около нуля tanh z ≈ z, поэтому каждый шаг без входа умножает память на W = 0.5.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57200" y="361188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31520" y="3703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731520" y="3931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 = [0.7616, 0.3634, 0.1797, 0.0896, 0.0448]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6766560" y="367588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×0.5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РАЗВЕРТКА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Общие веса на каждом шаге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Рекуррентные слои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5029200" cy="315468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2331720"/>
            <a:ext cx="731520" cy="384048"/>
          </a:xfrm>
          <a:prstGeom prst="roundRect">
            <a:avLst>
              <a:gd name="adj" fmla="val 14286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3317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h₁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68680" y="3429000"/>
            <a:ext cx="548640" cy="384048"/>
          </a:xfrm>
          <a:prstGeom prst="roundRect">
            <a:avLst>
              <a:gd name="adj" fmla="val 14286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" y="342900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x₁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143000" y="3429000"/>
            <a:ext cx="0" cy="-713232"/>
          </a:xfrm>
          <a:prstGeom prst="line">
            <a:avLst/>
          </a:prstGeom>
          <a:noFill/>
          <a:ln w="15240">
            <a:solidFill>
              <a:srgbClr val="6E6E78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1188720" y="29718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1508760" y="2523744"/>
            <a:ext cx="457200" cy="0"/>
          </a:xfrm>
          <a:prstGeom prst="line">
            <a:avLst/>
          </a:prstGeom>
          <a:noFill/>
          <a:ln w="25400">
            <a:solidFill>
              <a:srgbClr val="8F8260"/>
            </a:solidFill>
            <a:prstDash val="solid"/>
            <a:tailEnd type="triangle"/>
          </a:ln>
        </p:spPr>
      </p:sp>
      <p:sp>
        <p:nvSpPr>
          <p:cNvPr id="15" name="Text 12"/>
          <p:cNvSpPr txBox="1"/>
          <p:nvPr/>
        </p:nvSpPr>
        <p:spPr>
          <a:xfrm>
            <a:off x="1600200" y="21945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1965960" y="2331720"/>
            <a:ext cx="731520" cy="384048"/>
          </a:xfrm>
          <a:prstGeom prst="roundRect">
            <a:avLst>
              <a:gd name="adj" fmla="val 14286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965960" y="23317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h₂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2057400" y="3429000"/>
            <a:ext cx="548640" cy="384048"/>
          </a:xfrm>
          <a:prstGeom prst="roundRect">
            <a:avLst>
              <a:gd name="adj" fmla="val 14286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057400" y="342900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x₂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2331720" y="3429000"/>
            <a:ext cx="0" cy="-713232"/>
          </a:xfrm>
          <a:prstGeom prst="line">
            <a:avLst/>
          </a:prstGeom>
          <a:noFill/>
          <a:ln w="15240">
            <a:solidFill>
              <a:srgbClr val="6E6E78"/>
            </a:solidFill>
            <a:prstDash val="solid"/>
            <a:tailEnd type="triangle"/>
          </a:ln>
        </p:spPr>
      </p:sp>
      <p:sp>
        <p:nvSpPr>
          <p:cNvPr id="21" name="Text 18"/>
          <p:cNvSpPr txBox="1"/>
          <p:nvPr/>
        </p:nvSpPr>
        <p:spPr>
          <a:xfrm>
            <a:off x="2377440" y="29718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697480" y="2523744"/>
            <a:ext cx="457200" cy="0"/>
          </a:xfrm>
          <a:prstGeom prst="line">
            <a:avLst/>
          </a:prstGeom>
          <a:noFill/>
          <a:ln w="25400">
            <a:solidFill>
              <a:srgbClr val="8F8260"/>
            </a:solidFill>
            <a:prstDash val="solid"/>
            <a:tailEnd type="triangle"/>
          </a:ln>
        </p:spPr>
      </p:sp>
      <p:sp>
        <p:nvSpPr>
          <p:cNvPr id="23" name="Text 20"/>
          <p:cNvSpPr txBox="1"/>
          <p:nvPr/>
        </p:nvSpPr>
        <p:spPr>
          <a:xfrm>
            <a:off x="2788920" y="21945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154680" y="2331720"/>
            <a:ext cx="731520" cy="384048"/>
          </a:xfrm>
          <a:prstGeom prst="roundRect">
            <a:avLst>
              <a:gd name="adj" fmla="val 14286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154680" y="23317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h₃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3246120" y="3429000"/>
            <a:ext cx="548640" cy="384048"/>
          </a:xfrm>
          <a:prstGeom prst="roundRect">
            <a:avLst>
              <a:gd name="adj" fmla="val 14286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246120" y="342900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x₃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520440" y="3429000"/>
            <a:ext cx="0" cy="-713232"/>
          </a:xfrm>
          <a:prstGeom prst="line">
            <a:avLst/>
          </a:prstGeom>
          <a:noFill/>
          <a:ln w="15240">
            <a:solidFill>
              <a:srgbClr val="6E6E78"/>
            </a:solidFill>
            <a:prstDash val="solid"/>
            <a:tailEnd type="triangle"/>
          </a:ln>
        </p:spPr>
      </p:sp>
      <p:sp>
        <p:nvSpPr>
          <p:cNvPr id="29" name="Text 26"/>
          <p:cNvSpPr txBox="1"/>
          <p:nvPr/>
        </p:nvSpPr>
        <p:spPr>
          <a:xfrm>
            <a:off x="3566160" y="29718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3886200" y="2523744"/>
            <a:ext cx="457200" cy="0"/>
          </a:xfrm>
          <a:prstGeom prst="line">
            <a:avLst/>
          </a:prstGeom>
          <a:noFill/>
          <a:ln w="25400">
            <a:solidFill>
              <a:srgbClr val="8F8260"/>
            </a:solidFill>
            <a:prstDash val="solid"/>
            <a:tailEnd type="triangle"/>
          </a:ln>
        </p:spPr>
      </p:sp>
      <p:sp>
        <p:nvSpPr>
          <p:cNvPr id="31" name="Text 28"/>
          <p:cNvSpPr txBox="1"/>
          <p:nvPr/>
        </p:nvSpPr>
        <p:spPr>
          <a:xfrm>
            <a:off x="3977640" y="21945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343400" y="2331720"/>
            <a:ext cx="731520" cy="384048"/>
          </a:xfrm>
          <a:prstGeom prst="roundRect">
            <a:avLst>
              <a:gd name="adj" fmla="val 14286"/>
            </a:avLst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343400" y="23317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h₄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4434840" y="3429000"/>
            <a:ext cx="548640" cy="384048"/>
          </a:xfrm>
          <a:prstGeom prst="roundRect">
            <a:avLst>
              <a:gd name="adj" fmla="val 14286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434840" y="342900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x₄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4709160" y="3429000"/>
            <a:ext cx="0" cy="-713232"/>
          </a:xfrm>
          <a:prstGeom prst="line">
            <a:avLst/>
          </a:prstGeom>
          <a:noFill/>
          <a:ln w="15240">
            <a:solidFill>
              <a:srgbClr val="6E6E78"/>
            </a:solidFill>
            <a:prstDash val="solid"/>
            <a:tailEnd type="triangle"/>
          </a:ln>
        </p:spPr>
      </p:sp>
      <p:sp>
        <p:nvSpPr>
          <p:cNvPr id="37" name="Text 34"/>
          <p:cNvSpPr txBox="1"/>
          <p:nvPr/>
        </p:nvSpPr>
        <p:spPr>
          <a:xfrm>
            <a:off x="4754880" y="29718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640080" y="14630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каждом шаге – те же W, U, b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5760720" y="1344168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5760720" y="134416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6400800" y="1325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Общие веса во времени</a:t>
            </a:r>
            <a:endParaRPr lang="en-US" sz="1300" dirty="0"/>
          </a:p>
        </p:txBody>
      </p:sp>
      <p:sp>
        <p:nvSpPr>
          <p:cNvPr id="42" name="Text 39"/>
          <p:cNvSpPr txBox="1"/>
          <p:nvPr/>
        </p:nvSpPr>
        <p:spPr>
          <a:xfrm>
            <a:off x="6400800" y="16184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одно ядро свертки на всю картинку.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5760720" y="2258568"/>
            <a:ext cx="457200" cy="402336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5760720" y="225856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5" name="Text 42"/>
          <p:cNvSpPr txBox="1"/>
          <p:nvPr/>
        </p:nvSpPr>
        <p:spPr>
          <a:xfrm>
            <a:off x="6400800" y="2240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H·H + H·D + H</a:t>
            </a:r>
            <a:endParaRPr lang="en-US" sz="1300" dirty="0"/>
          </a:p>
        </p:txBody>
      </p:sp>
      <p:sp>
        <p:nvSpPr>
          <p:cNvPr id="46" name="Text 43"/>
          <p:cNvSpPr txBox="1"/>
          <p:nvPr/>
        </p:nvSpPr>
        <p:spPr>
          <a:xfrm>
            <a:off x="6400800" y="25328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Параметров – сколько бы ни было шагов.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5760720" y="3172968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5760720" y="317296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6400800" y="3154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Любая длина</a:t>
            </a:r>
            <a:endParaRPr lang="en-US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00800" y="34472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Училась на коротких – читает и длинные.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СХЕМЫ ЗАДАЧ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Одна ячейка – четыре схемы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Рекуррентные слои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1920240" cy="2377440"/>
          </a:xfrm>
          <a:prstGeom prst="roundRect">
            <a:avLst>
              <a:gd name="adj" fmla="val 2857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1783080"/>
            <a:ext cx="256032" cy="256032"/>
          </a:xfrm>
          <a:prstGeom prst="rect">
            <a:avLst/>
          </a:prstGeom>
          <a:solidFill>
            <a:srgbClr val="3A3A42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97280" y="1783080"/>
            <a:ext cx="256032" cy="256032"/>
          </a:xfrm>
          <a:prstGeom prst="rect">
            <a:avLst/>
          </a:prstGeom>
          <a:solidFill>
            <a:srgbClr val="3A3A42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63040" y="1783080"/>
            <a:ext cx="256032" cy="256032"/>
          </a:xfrm>
          <a:prstGeom prst="rect">
            <a:avLst/>
          </a:prstGeom>
          <a:solidFill>
            <a:srgbClr val="3A3A42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828800" y="1783080"/>
            <a:ext cx="256032" cy="256032"/>
          </a:xfrm>
          <a:prstGeom prst="rect">
            <a:avLst/>
          </a:prstGeom>
          <a:solidFill>
            <a:srgbClr val="3A3A42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883664" y="1463040"/>
            <a:ext cx="146304" cy="146304"/>
          </a:xfrm>
          <a:prstGeom prst="ellipse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" y="2240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Много-к-одному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594360" y="2743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вся фраза → один ответ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594360" y="3154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тональность отзыва; Р4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560320" y="1280160"/>
            <a:ext cx="1920240" cy="23774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834640" y="1783080"/>
            <a:ext cx="256032" cy="256032"/>
          </a:xfrm>
          <a:prstGeom prst="rect">
            <a:avLst/>
          </a:prstGeom>
          <a:solidFill>
            <a:srgbClr val="F2F1ED"/>
          </a:solidFill>
          <a:ln w="12700">
            <a:solidFill>
              <a:srgbClr val="8F826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889504" y="1463040"/>
            <a:ext cx="146304" cy="146304"/>
          </a:xfrm>
          <a:prstGeom prst="ellipse">
            <a:avLst/>
          </a:prstGeom>
          <a:solidFill>
            <a:srgbClr val="8F8260"/>
          </a:solidFill>
          <a:ln w="12700">
            <a:solidFill>
              <a:srgbClr val="8F826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200400" y="1783080"/>
            <a:ext cx="256032" cy="256032"/>
          </a:xfrm>
          <a:prstGeom prst="rect">
            <a:avLst/>
          </a:prstGeom>
          <a:solidFill>
            <a:srgbClr val="F2F1ED"/>
          </a:solidFill>
          <a:ln w="12700">
            <a:solidFill>
              <a:srgbClr val="8F826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255264" y="1463040"/>
            <a:ext cx="146304" cy="146304"/>
          </a:xfrm>
          <a:prstGeom prst="ellipse">
            <a:avLst/>
          </a:prstGeom>
          <a:solidFill>
            <a:srgbClr val="8F8260"/>
          </a:solidFill>
          <a:ln w="12700">
            <a:solidFill>
              <a:srgbClr val="8F826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566160" y="1783080"/>
            <a:ext cx="256032" cy="256032"/>
          </a:xfrm>
          <a:prstGeom prst="rect">
            <a:avLst/>
          </a:prstGeom>
          <a:solidFill>
            <a:srgbClr val="F2F1ED"/>
          </a:solidFill>
          <a:ln w="12700">
            <a:solidFill>
              <a:srgbClr val="8F826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621024" y="1463040"/>
            <a:ext cx="146304" cy="146304"/>
          </a:xfrm>
          <a:prstGeom prst="ellipse">
            <a:avLst/>
          </a:prstGeom>
          <a:solidFill>
            <a:srgbClr val="8F8260"/>
          </a:solidFill>
          <a:ln w="12700">
            <a:solidFill>
              <a:srgbClr val="8F826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931920" y="1783080"/>
            <a:ext cx="256032" cy="256032"/>
          </a:xfrm>
          <a:prstGeom prst="rect">
            <a:avLst/>
          </a:prstGeom>
          <a:solidFill>
            <a:srgbClr val="F2F1ED"/>
          </a:solidFill>
          <a:ln w="12700">
            <a:solidFill>
              <a:srgbClr val="8F826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986784" y="1463040"/>
            <a:ext cx="146304" cy="146304"/>
          </a:xfrm>
          <a:prstGeom prst="ellipse">
            <a:avLst/>
          </a:prstGeom>
          <a:solidFill>
            <a:srgbClr val="8F8260"/>
          </a:solidFill>
          <a:ln w="12700">
            <a:solidFill>
              <a:srgbClr val="8F826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606040" y="2240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Много-ко-многим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2697480" y="2743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на каждом шаге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2697480" y="3154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следующая буква; Р5, Р6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663440" y="1280160"/>
            <a:ext cx="1920240" cy="23774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937760" y="1783080"/>
            <a:ext cx="256032" cy="256032"/>
          </a:xfrm>
          <a:prstGeom prst="rect">
            <a:avLst/>
          </a:prstGeom>
          <a:solidFill>
            <a:srgbClr val="F2F1ED"/>
          </a:solidFill>
          <a:ln w="12700">
            <a:solidFill>
              <a:srgbClr val="8F826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303520" y="1783080"/>
            <a:ext cx="256032" cy="256032"/>
          </a:xfrm>
          <a:prstGeom prst="rect">
            <a:avLst/>
          </a:prstGeom>
          <a:solidFill>
            <a:srgbClr val="F2F1ED"/>
          </a:solidFill>
          <a:ln w="12700">
            <a:solidFill>
              <a:srgbClr val="8F826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669280" y="1783080"/>
            <a:ext cx="256032" cy="256032"/>
          </a:xfrm>
          <a:prstGeom prst="rect">
            <a:avLst/>
          </a:prstGeom>
          <a:solidFill>
            <a:srgbClr val="F2F1ED"/>
          </a:solidFill>
          <a:ln w="12700">
            <a:solidFill>
              <a:srgbClr val="8F826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724144" y="1463040"/>
            <a:ext cx="146304" cy="146304"/>
          </a:xfrm>
          <a:prstGeom prst="ellipse">
            <a:avLst/>
          </a:prstGeom>
          <a:solidFill>
            <a:srgbClr val="8F8260"/>
          </a:solidFill>
          <a:ln w="12700">
            <a:solidFill>
              <a:srgbClr val="8F826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035040" y="1783080"/>
            <a:ext cx="256032" cy="256032"/>
          </a:xfrm>
          <a:prstGeom prst="rect">
            <a:avLst/>
          </a:prstGeom>
          <a:solidFill>
            <a:srgbClr val="F2F1ED"/>
          </a:solidFill>
          <a:ln w="12700">
            <a:solidFill>
              <a:srgbClr val="8F826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089904" y="1463040"/>
            <a:ext cx="146304" cy="146304"/>
          </a:xfrm>
          <a:prstGeom prst="ellipse">
            <a:avLst/>
          </a:prstGeom>
          <a:solidFill>
            <a:srgbClr val="8F8260"/>
          </a:solidFill>
          <a:ln w="12700">
            <a:solidFill>
              <a:srgbClr val="8F826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709160" y="2240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Кодировщик-декодер</a:t>
            </a:r>
            <a:endParaRPr lang="en-US" sz="1150" dirty="0"/>
          </a:p>
        </p:txBody>
      </p:sp>
      <p:sp>
        <p:nvSpPr>
          <p:cNvPr id="36" name="Text 33"/>
          <p:cNvSpPr txBox="1"/>
          <p:nvPr/>
        </p:nvSpPr>
        <p:spPr>
          <a:xfrm>
            <a:off x="4800600" y="2743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→ вектор → выход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4800600" y="3154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машинный перевод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6766560" y="1280160"/>
            <a:ext cx="1920240" cy="23774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7040880" y="1783080"/>
            <a:ext cx="256032" cy="256032"/>
          </a:xfrm>
          <a:prstGeom prst="rect">
            <a:avLst/>
          </a:prstGeom>
          <a:solidFill>
            <a:srgbClr val="F2F1ED"/>
          </a:solidFill>
          <a:ln w="12700">
            <a:solidFill>
              <a:srgbClr val="8F8260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095744" y="1463040"/>
            <a:ext cx="146304" cy="146304"/>
          </a:xfrm>
          <a:prstGeom prst="ellipse">
            <a:avLst/>
          </a:prstGeom>
          <a:solidFill>
            <a:srgbClr val="8F8260"/>
          </a:solidFill>
          <a:ln w="12700">
            <a:solidFill>
              <a:srgbClr val="8F8260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406640" y="1783080"/>
            <a:ext cx="256032" cy="256032"/>
          </a:xfrm>
          <a:prstGeom prst="rect">
            <a:avLst/>
          </a:prstGeom>
          <a:solidFill>
            <a:srgbClr val="F2F1ED"/>
          </a:solidFill>
          <a:ln w="12700">
            <a:solidFill>
              <a:srgbClr val="8F8260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461504" y="1463040"/>
            <a:ext cx="146304" cy="146304"/>
          </a:xfrm>
          <a:prstGeom prst="ellipse">
            <a:avLst/>
          </a:prstGeom>
          <a:solidFill>
            <a:srgbClr val="8F8260"/>
          </a:solidFill>
          <a:ln w="12700">
            <a:solidFill>
              <a:srgbClr val="8F8260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772400" y="1783080"/>
            <a:ext cx="256032" cy="256032"/>
          </a:xfrm>
          <a:prstGeom prst="rect">
            <a:avLst/>
          </a:prstGeom>
          <a:solidFill>
            <a:srgbClr val="F2F1ED"/>
          </a:solidFill>
          <a:ln w="12700">
            <a:solidFill>
              <a:srgbClr val="8F8260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827264" y="1463040"/>
            <a:ext cx="146304" cy="146304"/>
          </a:xfrm>
          <a:prstGeom prst="ellipse">
            <a:avLst/>
          </a:prstGeom>
          <a:solidFill>
            <a:srgbClr val="8F8260"/>
          </a:solidFill>
          <a:ln w="12700">
            <a:solidFill>
              <a:srgbClr val="8F8260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8138160" y="1783080"/>
            <a:ext cx="256032" cy="256032"/>
          </a:xfrm>
          <a:prstGeom prst="rect">
            <a:avLst/>
          </a:prstGeom>
          <a:solidFill>
            <a:srgbClr val="F2F1ED"/>
          </a:solidFill>
          <a:ln w="12700">
            <a:solidFill>
              <a:srgbClr val="8F8260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8193024" y="1463040"/>
            <a:ext cx="146304" cy="146304"/>
          </a:xfrm>
          <a:prstGeom prst="ellipse">
            <a:avLst/>
          </a:prstGeom>
          <a:solidFill>
            <a:srgbClr val="8F8260"/>
          </a:solidFill>
          <a:ln w="12700">
            <a:solidFill>
              <a:srgbClr val="8F8260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6812280" y="2240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Двунаправленная</a:t>
            </a:r>
            <a:endParaRPr lang="en-US" sz="1150" dirty="0"/>
          </a:p>
        </p:txBody>
      </p:sp>
      <p:sp>
        <p:nvSpPr>
          <p:cNvPr id="48" name="Text 45"/>
          <p:cNvSpPr txBox="1"/>
          <p:nvPr/>
        </p:nvSpPr>
        <p:spPr>
          <a:xfrm>
            <a:off x="6903720" y="2743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читает в обе стороны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6903720" y="3154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речь по записи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квадраты – шаги входа, кружки – где сеть дает ответ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img6/sec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4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121408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Обучение и проблемы</a:t>
            </a:r>
            <a:endParaRPr lang="en-US" sz="25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45643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Градиент идет назад по времени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Рекуррентные слои</a:t>
            </a:r>
            <a:endParaRPr lang="en-US" sz="750" dirty="0"/>
          </a:p>
        </p:txBody>
      </p:sp>
      <p:sp>
        <p:nvSpPr>
          <p:cNvPr id="8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BPTT: назад по времени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Рекуррентные слои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120640" y="502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∂h_T/∂h₀ = Π ∂hₜ/∂hₜ₋₁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937760" y="9326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одномерном случае ∂hₜ/∂hₜ₋₁ = (1 − hₜ²)·W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260604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1527048"/>
            <a:ext cx="457200" cy="402336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152704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1234440" y="15727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Развернуть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21031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сеть на T шагов – получится обычный граф вычислений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46120" y="1371600"/>
            <a:ext cx="260604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429000" y="1527048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29000" y="152704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023360" y="15727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Пройти назад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3429000" y="21031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потери к началу, как в Б1.2: множители перемножаются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35040" y="1371600"/>
            <a:ext cx="260604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17920" y="1527048"/>
            <a:ext cx="457200" cy="402336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217920" y="152704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6812280" y="15727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Сложить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217920" y="21031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градиенты по W со всех шагов – веса общие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38328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85800" y="3525012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pic>
        <p:nvPicPr>
          <p:cNvPr id="26" name="Image 0" descr="img6/ic_FaLightbulb_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863" y="3633643"/>
            <a:ext cx="185075" cy="185075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1325880" y="3493008"/>
            <a:ext cx="7086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обратного прохода нужно хранить все T состояний прямого прохода – длинные последовательности требуют памяти.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СЧИТАЕМ ВМЕСТЕ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Через 10 шагов остается тысячная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Рекуррентные слои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  <p:pic>
        <p:nvPicPr>
          <p:cNvPr id="7" name="Image 0" descr="img6/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389120" cy="311810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438912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нулевой вход: множитель ровно W на каждом шаге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5120640" y="1188720"/>
            <a:ext cx="35661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5303520" y="12801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ИМПУЛЬС, 5 ШАГОВ</a:t>
            </a:r>
            <a:endParaRPr lang="en-US" sz="850" dirty="0"/>
          </a:p>
        </p:txBody>
      </p:sp>
      <p:sp>
        <p:nvSpPr>
          <p:cNvPr id="11" name="Text 7"/>
          <p:cNvSpPr txBox="1"/>
          <p:nvPr/>
        </p:nvSpPr>
        <p:spPr>
          <a:xfrm>
            <a:off x="5303520" y="153619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 · 0.43 · 0.48 · 0.50 · 0.50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7223760" y="146304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0.0109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5120640" y="2267712"/>
            <a:ext cx="35661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5303520" y="23591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НОЛЬ НА ВХОДЕ, 10 ШАГОВ</a:t>
            </a:r>
            <a:endParaRPr lang="en-US" sz="850" dirty="0"/>
          </a:p>
        </p:txBody>
      </p:sp>
      <p:sp>
        <p:nvSpPr>
          <p:cNvPr id="15" name="Text 11"/>
          <p:cNvSpPr txBox="1"/>
          <p:nvPr/>
        </p:nvSpPr>
        <p:spPr>
          <a:xfrm>
            <a:off x="5303520" y="261518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0.5¹⁰ – затухание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7223760" y="254203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0.001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5120640" y="3346704"/>
            <a:ext cx="3566160" cy="960120"/>
          </a:xfrm>
          <a:prstGeom prst="roundRect">
            <a:avLst>
              <a:gd name="adj" fmla="val 5714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303520" y="34381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1.5, 10 ШАГОВ</a:t>
            </a:r>
            <a:endParaRPr lang="en-US" sz="850" dirty="0"/>
          </a:p>
        </p:txBody>
      </p:sp>
      <p:sp>
        <p:nvSpPr>
          <p:cNvPr id="19" name="Text 15"/>
          <p:cNvSpPr txBox="1"/>
          <p:nvPr/>
        </p:nvSpPr>
        <p:spPr>
          <a:xfrm>
            <a:off x="5303520" y="369417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1.5¹⁰ – взрыв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7223760" y="3621024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57.7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ОТСЕЧЕНИЕ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Отсечение – против взрыва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Рекуррентные слои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если ‖g‖ &gt; c:   g ← g · c / ‖g‖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57200" y="1737360"/>
            <a:ext cx="260604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85800" y="18745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ГРАДИЕНТ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 = (30, 40)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длина √(900 + 1600) = 50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46120" y="1737360"/>
            <a:ext cx="260604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3474720" y="18745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347472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= 1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&gt; 1 – отсекаем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035040" y="1737360"/>
            <a:ext cx="2606040" cy="1554480"/>
          </a:xfrm>
          <a:prstGeom prst="roundRect">
            <a:avLst>
              <a:gd name="adj" fmla="val 3529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263640" y="18745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ОТСЕЧЕНИЯ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26364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(0.6, 0.8)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26364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направление то же, длина 1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57200" y="352044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85800" y="3662172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pic>
        <p:nvPicPr>
          <p:cNvPr id="22" name="Image 0" descr="img6/ic_FaLightbulb_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863" y="3770803"/>
            <a:ext cx="185075" cy="185075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325880" y="3630168"/>
            <a:ext cx="7086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PyTorch: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nn.utils.clip_grad_norm_(model.parameters(), 1.0) – между backward и step. Маленький градиент 0.001 отсечение не увеличит.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img6/sec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4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121408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 и GRU</a:t>
            </a:r>
            <a:endParaRPr lang="en-US" sz="25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45643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Память с вентилями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Рекуррентные слои</a:t>
            </a:r>
            <a:endParaRPr lang="en-US" sz="750" dirty="0"/>
          </a:p>
        </p:txBody>
      </p:sp>
      <p:sp>
        <p:nvSpPr>
          <p:cNvPr id="8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вентиля LSTM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Рекуррентные слои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512064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85800" y="1691640"/>
            <a:ext cx="4663440" cy="0"/>
          </a:xfrm>
          <a:prstGeom prst="line">
            <a:avLst/>
          </a:prstGeom>
          <a:noFill/>
          <a:ln w="38100">
            <a:solidFill>
              <a:srgbClr val="B8AB84"/>
            </a:solidFill>
            <a:prstDash val="solid"/>
            <a:tailEnd type="triangle"/>
          </a:ln>
        </p:spPr>
      </p:sp>
      <p:sp>
        <p:nvSpPr>
          <p:cNvPr id="9" name="Text 6"/>
          <p:cNvSpPr txBox="1"/>
          <p:nvPr/>
        </p:nvSpPr>
        <p:spPr>
          <a:xfrm>
            <a:off x="640080" y="13898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cₜ₋₁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029200" y="138988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cₜ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417320" y="150876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F826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41732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606040" y="150876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F826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60604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1325880" y="2788920"/>
            <a:ext cx="548640" cy="457200"/>
          </a:xfrm>
          <a:prstGeom prst="roundRect">
            <a:avLst>
              <a:gd name="adj" fmla="val 12000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325880" y="2788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1325880" y="32735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057400" y="2788920"/>
            <a:ext cx="548640" cy="457200"/>
          </a:xfrm>
          <a:prstGeom prst="roundRect">
            <a:avLst>
              <a:gd name="adj" fmla="val 12000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057400" y="2788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2057400" y="32735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743200" y="2788920"/>
            <a:ext cx="548640" cy="457200"/>
          </a:xfrm>
          <a:prstGeom prst="roundRect">
            <a:avLst>
              <a:gd name="adj" fmla="val 12000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743200" y="2788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2743200" y="32735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794760" y="2788920"/>
            <a:ext cx="548640" cy="457200"/>
          </a:xfrm>
          <a:prstGeom prst="roundRect">
            <a:avLst>
              <a:gd name="adj" fmla="val 12000"/>
            </a:avLst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794760" y="2788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3794760" y="32735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1600200" y="2788920"/>
            <a:ext cx="0" cy="-914400"/>
          </a:xfrm>
          <a:prstGeom prst="line">
            <a:avLst/>
          </a:prstGeom>
          <a:noFill/>
          <a:ln w="15240">
            <a:solidFill>
              <a:srgbClr val="6E6E78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2788920" y="2697480"/>
            <a:ext cx="0" cy="-822960"/>
          </a:xfrm>
          <a:prstGeom prst="line">
            <a:avLst/>
          </a:prstGeom>
          <a:noFill/>
          <a:ln w="15240">
            <a:solidFill>
              <a:srgbClr val="6E6E78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2331720" y="2697480"/>
            <a:ext cx="685800" cy="0"/>
          </a:xfrm>
          <a:prstGeom prst="line">
            <a:avLst/>
          </a:prstGeom>
          <a:noFill/>
          <a:ln w="12700">
            <a:solidFill>
              <a:srgbClr val="6E6E7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331720" y="2697480"/>
            <a:ext cx="0" cy="91440"/>
          </a:xfrm>
          <a:prstGeom prst="line">
            <a:avLst/>
          </a:prstGeom>
          <a:noFill/>
          <a:ln w="12700">
            <a:solidFill>
              <a:srgbClr val="6E6E7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017520" y="2697480"/>
            <a:ext cx="0" cy="91440"/>
          </a:xfrm>
          <a:prstGeom prst="line">
            <a:avLst/>
          </a:prstGeom>
          <a:noFill/>
          <a:ln w="12700">
            <a:solidFill>
              <a:srgbClr val="6E6E7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97280" y="3794760"/>
            <a:ext cx="3291840" cy="0"/>
          </a:xfrm>
          <a:prstGeom prst="line">
            <a:avLst/>
          </a:prstGeom>
          <a:noFill/>
          <a:ln w="15240">
            <a:solidFill>
              <a:srgbClr val="6E6E78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94360" y="36758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hₜ₋₁, xₜ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1600200" y="3502152"/>
            <a:ext cx="0" cy="292608"/>
          </a:xfrm>
          <a:prstGeom prst="line">
            <a:avLst/>
          </a:prstGeom>
          <a:noFill/>
          <a:ln w="12700">
            <a:solidFill>
              <a:srgbClr val="6E6E7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331720" y="3502152"/>
            <a:ext cx="0" cy="292608"/>
          </a:xfrm>
          <a:prstGeom prst="line">
            <a:avLst/>
          </a:prstGeom>
          <a:noFill/>
          <a:ln w="12700">
            <a:solidFill>
              <a:srgbClr val="6E6E7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017520" y="3502152"/>
            <a:ext cx="0" cy="292608"/>
          </a:xfrm>
          <a:prstGeom prst="line">
            <a:avLst/>
          </a:prstGeom>
          <a:noFill/>
          <a:ln w="12700">
            <a:solidFill>
              <a:srgbClr val="6E6E78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069080" y="3502152"/>
            <a:ext cx="0" cy="292608"/>
          </a:xfrm>
          <a:prstGeom prst="line">
            <a:avLst/>
          </a:prstGeom>
          <a:noFill/>
          <a:ln w="12700">
            <a:solidFill>
              <a:srgbClr val="6E6E78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526280" y="2148840"/>
            <a:ext cx="731520" cy="365760"/>
          </a:xfrm>
          <a:prstGeom prst="roundRect">
            <a:avLst>
              <a:gd name="adj" fmla="val 15000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4526280" y="21488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892040" y="1691640"/>
            <a:ext cx="0" cy="457200"/>
          </a:xfrm>
          <a:prstGeom prst="line">
            <a:avLst/>
          </a:prstGeom>
          <a:noFill/>
          <a:ln w="12700">
            <a:solidFill>
              <a:srgbClr val="6E6E7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892040" y="2514600"/>
            <a:ext cx="0" cy="502920"/>
          </a:xfrm>
          <a:prstGeom prst="line">
            <a:avLst/>
          </a:prstGeom>
          <a:noFill/>
          <a:ln w="15240">
            <a:solidFill>
              <a:srgbClr val="6E6E78"/>
            </a:solidFill>
            <a:prstDash val="solid"/>
            <a:tailEnd type="triangle"/>
          </a:ln>
        </p:spPr>
      </p:sp>
      <p:sp>
        <p:nvSpPr>
          <p:cNvPr id="42" name="Text 39"/>
          <p:cNvSpPr txBox="1"/>
          <p:nvPr/>
        </p:nvSpPr>
        <p:spPr>
          <a:xfrm>
            <a:off x="4389120" y="3063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o → hₜ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5852160" y="1344168"/>
            <a:ext cx="457200" cy="402336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5852160" y="134416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000" dirty="0"/>
          </a:p>
        </p:txBody>
      </p:sp>
      <p:sp>
        <p:nvSpPr>
          <p:cNvPr id="45" name="Text 42"/>
          <p:cNvSpPr txBox="1"/>
          <p:nvPr/>
        </p:nvSpPr>
        <p:spPr>
          <a:xfrm>
            <a:off x="6492240" y="1325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Забывания</a:t>
            </a:r>
            <a:endParaRPr lang="en-US" sz="1300" dirty="0"/>
          </a:p>
        </p:txBody>
      </p:sp>
      <p:sp>
        <p:nvSpPr>
          <p:cNvPr id="46" name="Text 43"/>
          <p:cNvSpPr txBox="1"/>
          <p:nvPr/>
        </p:nvSpPr>
        <p:spPr>
          <a:xfrm>
            <a:off x="6492240" y="161848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старой памяти оставить.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5852160" y="2212848"/>
            <a:ext cx="457200" cy="402336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5852160" y="221284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6492240" y="2194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Входа</a:t>
            </a:r>
            <a:endParaRPr lang="en-US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24871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нового записать (g).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5852160" y="3081528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5852160" y="308152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6492240" y="3063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Выхода</a:t>
            </a:r>
            <a:endParaRPr lang="en-US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33558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Какую часть памяти выдать в hₜ.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4480560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перерисована по [COLAH]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СЧИТАЕМ ВМЕСТЕ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Память копится добавкой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Рекуррентные слои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cₜ = fₜ ⊙ cₜ₋₁ + iₜ ⊙ gₜ     ⇒     ∂cₜ/∂cₜ₋₁ = fₜ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1737360"/>
            <a:ext cx="26060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85800" y="18745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ПРОСТАЯ РНС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E6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0.5⁵⁰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606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9 · 10⁻¹⁶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3246120" y="1737360"/>
            <a:ext cx="2606040" cy="1600200"/>
          </a:xfrm>
          <a:prstGeom prst="roundRect">
            <a:avLst>
              <a:gd name="adj" fmla="val 3429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474720" y="18745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LSTM, f = 0.95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347472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2E2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0.95⁵⁰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474720" y="2606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0.077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6035040" y="1737360"/>
            <a:ext cx="26060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6263640" y="18745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СМЕЩЕНИЕ f = 3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26364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E6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σ(3)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263640" y="2606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0.95</a:t>
            </a:r>
            <a:endParaRPr lang="en-US" sz="2600" dirty="0"/>
          </a:p>
        </p:txBody>
      </p:sp>
      <p:sp>
        <p:nvSpPr>
          <p:cNvPr id="20" name="Shape 17"/>
          <p:cNvSpPr/>
          <p:nvPr/>
        </p:nvSpPr>
        <p:spPr>
          <a:xfrm>
            <a:off x="457200" y="356616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85800" y="3707892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pic>
        <p:nvPicPr>
          <p:cNvPr id="22" name="Image 0" descr="img6/ic_FaLightbulb_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863" y="3816523"/>
            <a:ext cx="185075" cy="185075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325880" y="3675888"/>
            <a:ext cx="7086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Задание Р4: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длине 50 простая РНС близка к угадыванию, а LSTM со смещением вентиля забывания 3 запоминает первый символ.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GRU: два вентиля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Рекуррентные слои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212080" y="502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hₜ = (1 − zₜ) ⊙ hₜ₋₁ + zₜ ⊙ h̃ₜ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212080" y="93268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– обновления, r – сброса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325880"/>
            <a:ext cx="26060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85800" y="1463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E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nn.RNN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17830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1 216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блок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46120" y="1325880"/>
            <a:ext cx="26060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3474720" y="1463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E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nn.GRU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3474720" y="17830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3 648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3474720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блока: z, r, кандидат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035040" y="1325880"/>
            <a:ext cx="2606040" cy="1691640"/>
          </a:xfrm>
          <a:prstGeom prst="roundRect">
            <a:avLst>
              <a:gd name="adj" fmla="val 3243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63640" y="1463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8A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nn.LSTM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6263640" y="17830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4 864</a:t>
            </a:r>
            <a:endParaRPr lang="en-US" sz="3000" dirty="0"/>
          </a:p>
        </p:txBody>
      </p:sp>
      <p:sp>
        <p:nvSpPr>
          <p:cNvPr id="20" name="Text 17"/>
          <p:cNvSpPr txBox="1"/>
          <p:nvPr/>
        </p:nvSpPr>
        <p:spPr>
          <a:xfrm>
            <a:off x="6263640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блока: i, f, g, o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3154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= 32, D = 4; блок = 32·4 + 32·32 + 2·32 = 1 216 параметров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отдельной памяти c, качество обычно близко к LSTM, считается быстрее.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ИТОГОВАЯ ОЦЕНКА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Сильные и слабые стороны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Рекуррентные слои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3337560"/>
            <a:ext cx="9144000" cy="1805940"/>
          </a:xfrm>
          <a:prstGeom prst="rect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Рекуррентные слои</a:t>
            </a:r>
            <a:endParaRPr lang="en-US" sz="75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68680" y="1188720"/>
            <a:ext cx="361188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097280" y="1371600"/>
            <a:ext cx="502920" cy="438912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pic>
        <p:nvPicPr>
          <p:cNvPr id="12" name="Image 0" descr="img6/ic_FaCheck_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7790" y="1490106"/>
            <a:ext cx="201900" cy="2019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737360" y="14173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Сильные стороны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143000" y="196596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Читают последовательности любой длины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Общие веса во времени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и GRU помнят сотни шагов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Работают с потоком данных в реальном времени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663440" y="1188720"/>
            <a:ext cx="361188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892040" y="1371600"/>
            <a:ext cx="502920" cy="438912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pic>
        <p:nvPicPr>
          <p:cNvPr id="17" name="Image 1" descr="img6/ic_FaTimes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2550" y="1490106"/>
            <a:ext cx="201900" cy="2019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532120" y="14173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Слабые стороны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4937760" y="196596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Шаги строго по очереди – плохо параллелятся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Простая РНС быстро забывает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Очень длинные связи трудны и для LSTM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хранит все состояния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14400" y="3886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дальше: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современная замена рекуррентности – механизм внимания и трансформеры, которые видят всю последовательность сразу.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img6/sec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4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121408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Пишем РНС на Python</a:t>
            </a:r>
            <a:endParaRPr lang="en-US" sz="25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45643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Практическая работа №1, часть 5Р: ячейка на тензорах, затем nn.RNN и nn.LSTM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Рекуррентные слои</a:t>
            </a:r>
            <a:endParaRPr lang="en-US" sz="750" dirty="0"/>
          </a:p>
        </p:txBody>
      </p:sp>
      <p:sp>
        <p:nvSpPr>
          <p:cNvPr id="8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ХРАНИТСЯ В КОДЕ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Веса nn.RNN и nn.LSTM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Рекуррентные слои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3977640" cy="2057400"/>
          </a:xfrm>
          <a:prstGeom prst="roundRect">
            <a:avLst>
              <a:gd name="adj" fmla="val 2667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135331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NN.RNN(D, H)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64592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weight_ih_l0  (H, D)    # это U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weight_hh_l0  (H, H)    # это 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bias_ih_l0    (H,)     # b = сумма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bias_hh_l0    (H,)     #   двух смещений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17720" y="1188720"/>
            <a:ext cx="4069080" cy="2057400"/>
          </a:xfrm>
          <a:prstGeom prst="roundRect">
            <a:avLst>
              <a:gd name="adj" fmla="val 2667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46320" y="135331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NN.LSTM(D, H)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4846320" y="1645920"/>
            <a:ext cx="3611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weight_ih_l0  (4H, 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weight_hh_l0  (4H, H)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блоки по H строк: i, f, g, 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 = строки [H : 2H]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out, (h_n, c_n) = lstm(x)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batch_first=True: </a:t>
            </a:r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(N, T, D), выход out – (N, T, H), последнее состояние h_n – (1, N, H). Для «много-к-одному» берем out[:, -1].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ПРАКТИКИ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Шесть заданий – от ячейки до текста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Рекуррентные слои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2651760" cy="1143000"/>
          </a:xfrm>
          <a:prstGeom prst="roundRect">
            <a:avLst>
              <a:gd name="adj" fmla="val 4800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554480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15544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Р1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1371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8A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rnn_step · rnn_forward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234440" y="193852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со слайда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73552" y="1188720"/>
            <a:ext cx="26517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56432" y="1554480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456432" y="15544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Р2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4050792" y="1371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copy_to_rnn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4050792" y="193852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Сверка с nn.RNN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089904" y="1188720"/>
            <a:ext cx="26517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272784" y="1554480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72784" y="15544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Р3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6867144" y="1371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grad_h0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6867144" y="193852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Затухание и взрыв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57200" y="2514600"/>
            <a:ext cx="2651760" cy="1143000"/>
          </a:xfrm>
          <a:prstGeom prst="roundRect">
            <a:avLst>
              <a:gd name="adj" fmla="val 4800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0080" y="2880360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288036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Р4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1234440" y="26974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8A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SeqClassifier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234440" y="32644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РНС против LSTM: 5, 20, 50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273552" y="2514600"/>
            <a:ext cx="26517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456432" y="2880360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456432" y="288036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Р5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4050792" y="26974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make_windows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4050792" y="32644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синусоиды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6089904" y="2514600"/>
            <a:ext cx="26517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6272784" y="2880360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272784" y="288036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Р6</a:t>
            </a:r>
            <a:endParaRPr lang="en-US" sz="950" dirty="0"/>
          </a:p>
        </p:txBody>
      </p:sp>
      <p:sp>
        <p:nvSpPr>
          <p:cNvPr id="35" name="Text 32"/>
          <p:cNvSpPr txBox="1"/>
          <p:nvPr/>
        </p:nvSpPr>
        <p:spPr>
          <a:xfrm>
            <a:off x="6867144" y="26974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 · decode · sample_next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6867144" y="32644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текста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457200" y="3931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Р1–Р3 – только операции тензоров, nn.RNN – для сверки. Данные генерируются, текст записан в ноутбуке.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657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 ЗАНЯТИЯ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669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должно остаться в голове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325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7335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РНС: hₜ = tanh(W·hₜ₋₁ + U·xₜ + b) – память обновляется каждый шаг.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3063240" y="1325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3063240" y="167335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Развертка: глубокая сеть с одними весами на всех шагах.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468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81635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Схемы: много-к-одному, много-ко-многим, кодировщик-декодер.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3063240" y="2468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3063240" y="281635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BPTT: множители перемножаются – 0.5¹⁰ ≈ 0.001, затухание.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611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395935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Отсечение градиента спасает от взрыва, но не от затухания.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3063240" y="3611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3063240" y="395935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LSTM: вентили и память-добавка, градиент идет через f ≈ 1.</a:t>
            </a:r>
            <a:endParaRPr lang="en-US" sz="1050" dirty="0"/>
          </a:p>
        </p:txBody>
      </p:sp>
      <p:pic>
        <p:nvPicPr>
          <p:cNvPr id="17" name="Image 0" descr="img6/hexrn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502920"/>
            <a:ext cx="2926080" cy="323697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8183880" y="3749040"/>
            <a:ext cx="502920" cy="438912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Рекуррентные слои</a:t>
            </a:r>
            <a:endParaRPr lang="en-US" sz="750" dirty="0"/>
          </a:p>
        </p:txBody>
      </p:sp>
      <p:sp>
        <p:nvSpPr>
          <p:cNvPr id="20" name="Text 16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2026-09-24T07:57:16Z</dcterms:created>
  <dcterms:modified xsi:type="dcterms:W3CDTF">2026-09-24T07:57:16Z</dcterms:modified>
</cp:coreProperties>
</file>